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Wireframes: GeM — Tractors Buying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Low-to-Mid Fidelity Wireframes — 4 Sequential Screens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4023360" cy="0"/>
          </a:xfrm>
          <a:prstGeom prst="line">
            <a:avLst/>
          </a:prstGeom>
          <a:noFill/>
          <a:ln w="19050">
            <a:solidFill>
              <a:srgbClr val="3E5C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94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— UI/UX Design (CSE4PE43A)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Vehicles — Government e-Marketplace (GeM), Tractors category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Persona: Suresh Patil, Assistant Engineer — State Agriculture Department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→  Tractors Category Listing  →  Bid Detail Page  →  Bid Confirmation &amp; My Bids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— GeM Home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point: search, popular categories, and a direct “Tractors” shortcut (Gap #1 fix)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512064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  <a:effectLst>
            <a:outerShdw sx="100000" sy="100000" kx="0" ky="0" algn="bl" rotWithShape="0" blurRad="381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850392"/>
            <a:ext cx="310896" cy="3108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850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832104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gem.gov.in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490472"/>
            <a:ext cx="10515600" cy="566928"/>
          </a:xfrm>
          <a:prstGeom prst="rect">
            <a:avLst/>
          </a:prstGeom>
          <a:solidFill>
            <a:srgbClr val="F1F3F4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904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94560" y="1609344"/>
            <a:ext cx="4937760" cy="329184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6093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Search for products, services, bids…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149047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646920" y="1618488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1A56DB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1618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148840"/>
            <a:ext cx="10515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21992"/>
            <a:ext cx="95554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221992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Products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35124" y="2221992"/>
            <a:ext cx="95554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5124" y="2221992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Automobiles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18688" y="2221992"/>
            <a:ext cx="81838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221992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65092" y="2221992"/>
            <a:ext cx="68122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5092" y="2221992"/>
            <a:ext cx="68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74336" y="2221992"/>
            <a:ext cx="88696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22199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2221992"/>
            <a:ext cx="749808" cy="274320"/>
          </a:xfrm>
          <a:prstGeom prst="roundRect">
            <a:avLst>
              <a:gd name="adj" fmla="val 40000"/>
            </a:avLst>
          </a:prstGeom>
          <a:solidFill>
            <a:srgbClr val="E7EEFD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2219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Tractors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67144" y="2221992"/>
            <a:ext cx="886968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222199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Stationery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78992" y="2734056"/>
            <a:ext cx="10003536" cy="1143000"/>
          </a:xfrm>
          <a:prstGeom prst="roundRect">
            <a:avLst>
              <a:gd name="adj" fmla="val 3200"/>
            </a:avLst>
          </a:prstGeom>
          <a:solidFill>
            <a:srgbClr val="F7F8F9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1872" y="2898648"/>
            <a:ext cx="1737360" cy="822960"/>
          </a:xfrm>
          <a:prstGeom prst="roundRect">
            <a:avLst>
              <a:gd name="adj" fmla="val 4444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2898648"/>
            <a:ext cx="1737360" cy="82296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3721608"/>
            <a:ext cx="1737360" cy="-82296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34655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82112" y="2990088"/>
            <a:ext cx="4206240" cy="182880"/>
          </a:xfrm>
          <a:prstGeom prst="rect">
            <a:avLst>
              <a:gd name="adj" fmla="val 10000"/>
            </a:avLst>
          </a:prstGeom>
          <a:solidFill>
            <a:srgbClr val="B7BCC1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2112" y="3264408"/>
            <a:ext cx="6035040" cy="128016"/>
          </a:xfrm>
          <a:prstGeom prst="rect">
            <a:avLst>
              <a:gd name="adj" fmla="val 14286"/>
            </a:avLst>
          </a:prstGeom>
          <a:solidFill>
            <a:srgbClr val="CDD1D5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2112" y="3465576"/>
            <a:ext cx="4937760" cy="128016"/>
          </a:xfrm>
          <a:prstGeom prst="rect">
            <a:avLst>
              <a:gd name="adj" fmla="val 14286"/>
            </a:avLst>
          </a:prstGeom>
          <a:solidFill>
            <a:srgbClr val="CDD1D5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992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Categories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78992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80388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80388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80388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80388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8992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76728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78124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78124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78124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8124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76728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74464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75860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75860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75860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75860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474464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72200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E7EEFD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73596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3596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3596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3596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72200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Tractors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869936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71332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71332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71332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71332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869936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567672" y="4407408"/>
            <a:ext cx="151485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69068" y="4535424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69068" y="4535424"/>
            <a:ext cx="512064" cy="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69068" y="4992624"/>
            <a:ext cx="512064" cy="-4572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69068" y="47365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567672" y="5047488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Lights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— Tractors Category Listing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Filters, sellable listings, and an at-a-glance comparison table across brands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512064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  <a:effectLst>
            <a:outerShdw sx="100000" sy="100000" kx="0" ky="0" algn="bl" rotWithShape="0" blurRad="381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850392"/>
            <a:ext cx="310896" cy="3108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850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832104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gem.gov.in / tractors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490472"/>
            <a:ext cx="10515600" cy="384048"/>
          </a:xfrm>
          <a:prstGeom prst="rect">
            <a:avLst/>
          </a:prstGeom>
          <a:solidFill>
            <a:srgbClr val="F1F3F4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90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/  Automobiles  /  Tractors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78992" y="2020824"/>
            <a:ext cx="2286000" cy="4078224"/>
          </a:xfrm>
          <a:prstGeom prst="roundRect">
            <a:avLst>
              <a:gd name="adj" fmla="val 1200"/>
            </a:avLst>
          </a:prstGeom>
          <a:solidFill>
            <a:srgbClr val="F7F8F9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18541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43584" y="249631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276148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73405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280160" y="2980944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29535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Sonalika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1280160" y="3200400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31729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Swaraj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1280160" y="3419856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33924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Deere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243584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0160" y="3968496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394106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&lt;35 HP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1280160" y="4187952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41605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35–50 HP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280160" y="440740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1328" y="437997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HP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243584" y="46908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Type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80160" y="495604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81328" y="492861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Authorised only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3593592" y="2020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tractor listings found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45168" y="202082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5168" y="2020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Sort: Price (Low–High) ▾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93592" y="2404872"/>
            <a:ext cx="7488936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39896" y="2532888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9896" y="2532888"/>
            <a:ext cx="1234440" cy="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9896" y="3447288"/>
            <a:ext cx="1234440" cy="-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9896" y="31912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48072" y="255117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 575 DI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48072" y="2862072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EDEFF1"/>
          </a:solidFill>
          <a:ln/>
        </p:spPr>
      </p:sp>
      <p:sp>
        <p:nvSpPr>
          <p:cNvPr id="42" name="Text 40"/>
          <p:cNvSpPr/>
          <p:nvPr/>
        </p:nvSpPr>
        <p:spPr>
          <a:xfrm>
            <a:off x="5148072" y="2862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Mode Only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45352" y="2862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HP · 2WD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48072" y="3191256"/>
            <a:ext cx="3465576" cy="109728"/>
          </a:xfrm>
          <a:prstGeom prst="rect">
            <a:avLst>
              <a:gd name="adj" fmla="val 16667"/>
            </a:avLst>
          </a:prstGeom>
          <a:solidFill>
            <a:srgbClr val="D6D9DC"/>
          </a:solidFill>
          <a:ln/>
        </p:spPr>
      </p:sp>
      <p:sp>
        <p:nvSpPr>
          <p:cNvPr id="45" name="Text 43"/>
          <p:cNvSpPr/>
          <p:nvPr/>
        </p:nvSpPr>
        <p:spPr>
          <a:xfrm>
            <a:off x="8476488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₹6,85,000 + delivery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65208" y="3118104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56DB"/>
          </a:solidFill>
          <a:ln/>
        </p:spPr>
      </p:sp>
      <p:sp>
        <p:nvSpPr>
          <p:cNvPr id="47" name="Text 45"/>
          <p:cNvSpPr/>
          <p:nvPr/>
        </p:nvSpPr>
        <p:spPr>
          <a:xfrm>
            <a:off x="9665208" y="3118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Bid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93592" y="3721608"/>
            <a:ext cx="7488936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39896" y="3849624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39896" y="3849624"/>
            <a:ext cx="1234440" cy="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39896" y="4764024"/>
            <a:ext cx="1234440" cy="-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9896" y="45079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867912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Swaraj 744 FE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148072" y="4178808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EDEFF1"/>
          </a:solidFill>
          <a:ln/>
        </p:spPr>
      </p:sp>
      <p:sp>
        <p:nvSpPr>
          <p:cNvPr id="55" name="Text 53"/>
          <p:cNvSpPr/>
          <p:nvPr/>
        </p:nvSpPr>
        <p:spPr>
          <a:xfrm>
            <a:off x="5148072" y="41788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Mode Only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45352" y="4178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HP · 2WD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148072" y="4507992"/>
            <a:ext cx="3465576" cy="109728"/>
          </a:xfrm>
          <a:prstGeom prst="rect">
            <a:avLst>
              <a:gd name="adj" fmla="val 16667"/>
            </a:avLst>
          </a:prstGeom>
          <a:solidFill>
            <a:srgbClr val="D6D9DC"/>
          </a:solidFill>
          <a:ln/>
        </p:spPr>
      </p:sp>
      <p:sp>
        <p:nvSpPr>
          <p:cNvPr id="58" name="Text 56"/>
          <p:cNvSpPr/>
          <p:nvPr/>
        </p:nvSpPr>
        <p:spPr>
          <a:xfrm>
            <a:off x="8476488" y="3886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₹6,40,000 + delivery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65208" y="443484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56DB"/>
          </a:solidFill>
          <a:ln/>
        </p:spPr>
      </p:sp>
      <p:sp>
        <p:nvSpPr>
          <p:cNvPr id="60" name="Text 58"/>
          <p:cNvSpPr/>
          <p:nvPr/>
        </p:nvSpPr>
        <p:spPr>
          <a:xfrm>
            <a:off x="9665208" y="44348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Bid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593592" y="5038344"/>
            <a:ext cx="7488936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39896" y="516636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39896" y="5166360"/>
            <a:ext cx="1234440" cy="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39896" y="6080760"/>
            <a:ext cx="1234440" cy="-91440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39896" y="58247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48072" y="518464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Sonalika DI 745 III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148072" y="549554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EDEFF1"/>
          </a:solidFill>
          <a:ln/>
        </p:spPr>
      </p:sp>
      <p:sp>
        <p:nvSpPr>
          <p:cNvPr id="68" name="Text 66"/>
          <p:cNvSpPr/>
          <p:nvPr/>
        </p:nvSpPr>
        <p:spPr>
          <a:xfrm>
            <a:off x="5148072" y="54955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Mode Only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45352" y="5495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HP · 4WD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148072" y="5824728"/>
            <a:ext cx="3465576" cy="109728"/>
          </a:xfrm>
          <a:prstGeom prst="rect">
            <a:avLst>
              <a:gd name="adj" fmla="val 16667"/>
            </a:avLst>
          </a:prstGeom>
          <a:solidFill>
            <a:srgbClr val="D6D9DC"/>
          </a:solidFill>
          <a:ln/>
        </p:spPr>
      </p:sp>
      <p:sp>
        <p:nvSpPr>
          <p:cNvPr id="71" name="Text 69"/>
          <p:cNvSpPr/>
          <p:nvPr/>
        </p:nvSpPr>
        <p:spPr>
          <a:xfrm>
            <a:off x="8476488" y="5202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₹7,10,000 + delivery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665208" y="5751576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56DB"/>
          </a:solidFill>
          <a:ln/>
        </p:spPr>
      </p:sp>
      <p:sp>
        <p:nvSpPr>
          <p:cNvPr id="73" name="Text 71"/>
          <p:cNvSpPr/>
          <p:nvPr/>
        </p:nvSpPr>
        <p:spPr>
          <a:xfrm>
            <a:off x="9665208" y="57515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Bid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 view (toggle) surfaces Brand / HP / Price / Delivery / EMD side-by-side — addresses inconsistent spec formatting.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— Tractor Bid Detail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specification, glossary tooltips for procurement terms, and the bid CTA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512064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  <a:effectLst>
            <a:outerShdw sx="100000" sy="100000" kx="0" ky="0" algn="bl" rotWithShape="0" blurRad="381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850392"/>
            <a:ext cx="310896" cy="3108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850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832104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gem.gov.in / tractors / mahindra-575-di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490472"/>
            <a:ext cx="10515600" cy="365760"/>
          </a:xfrm>
          <a:prstGeom prst="rect">
            <a:avLst/>
          </a:prstGeom>
          <a:solidFill>
            <a:srgbClr val="F1F3F4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904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1490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Automobiles / Tractors / Mahindra 575 DI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078992" y="2039112"/>
            <a:ext cx="3931920" cy="2103120"/>
          </a:xfrm>
          <a:prstGeom prst="roundRect">
            <a:avLst>
              <a:gd name="adj" fmla="val 1739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039112"/>
            <a:ext cx="3931920" cy="21031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4142232"/>
            <a:ext cx="3931920" cy="-21031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8862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IMAGE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78992" y="4279392"/>
            <a:ext cx="873252" cy="502920"/>
          </a:xfrm>
          <a:prstGeom prst="roundRect">
            <a:avLst>
              <a:gd name="adj" fmla="val 7273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4279392"/>
            <a:ext cx="873252" cy="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4782312"/>
            <a:ext cx="873252" cy="-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526280"/>
            <a:ext cx="8732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61972" y="4279392"/>
            <a:ext cx="873252" cy="502920"/>
          </a:xfrm>
          <a:prstGeom prst="roundRect">
            <a:avLst>
              <a:gd name="adj" fmla="val 7273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1972" y="4279392"/>
            <a:ext cx="873252" cy="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1972" y="4782312"/>
            <a:ext cx="873252" cy="-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1972" y="4526280"/>
            <a:ext cx="8732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44952" y="4279392"/>
            <a:ext cx="873252" cy="502920"/>
          </a:xfrm>
          <a:prstGeom prst="roundRect">
            <a:avLst>
              <a:gd name="adj" fmla="val 7273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4952" y="4279392"/>
            <a:ext cx="873252" cy="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44952" y="4782312"/>
            <a:ext cx="873252" cy="-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4526280"/>
            <a:ext cx="8732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27932" y="4279392"/>
            <a:ext cx="873252" cy="502920"/>
          </a:xfrm>
          <a:prstGeom prst="roundRect">
            <a:avLst>
              <a:gd name="adj" fmla="val 7273"/>
            </a:avLst>
          </a:prstGeom>
          <a:solidFill>
            <a:srgbClr val="E8EAEC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7932" y="4279392"/>
            <a:ext cx="873252" cy="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7932" y="4782312"/>
            <a:ext cx="873252" cy="-502920"/>
          </a:xfrm>
          <a:prstGeom prst="line">
            <a:avLst/>
          </a:prstGeom>
          <a:noFill/>
          <a:ln w="12700">
            <a:solidFill>
              <a:srgbClr val="B7BC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7932" y="4526280"/>
            <a:ext cx="8732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78992" y="4919472"/>
            <a:ext cx="3931920" cy="1051560"/>
          </a:xfrm>
          <a:prstGeom prst="roundRect">
            <a:avLst>
              <a:gd name="adj" fmla="val 3478"/>
            </a:avLst>
          </a:prstGeom>
          <a:solidFill>
            <a:srgbClr val="F7F8F9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5010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OEM-Authorised Sellers (4)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243584" y="5248656"/>
            <a:ext cx="82296" cy="82296"/>
          </a:xfrm>
          <a:prstGeom prst="ellipse">
            <a:avLst/>
          </a:prstGeom>
          <a:solidFill>
            <a:srgbClr val="2E7D32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89888" y="5212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 Traders Pvt. Ltd. — Pune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1243584" y="5486400"/>
            <a:ext cx="82296" cy="82296"/>
          </a:xfrm>
          <a:prstGeom prst="ellipse">
            <a:avLst/>
          </a:prstGeom>
          <a:solidFill>
            <a:srgbClr val="2E7D32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9888" y="5449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Krishi Motors — Kolhapur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1243584" y="5724144"/>
            <a:ext cx="82296" cy="82296"/>
          </a:xfrm>
          <a:prstGeom prst="ellipse">
            <a:avLst/>
          </a:prstGeom>
          <a:solidFill>
            <a:srgbClr val="2E7D32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9888" y="5687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Deccan Farm Equipment — Nashik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285232" y="2039112"/>
            <a:ext cx="5797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 575 DI (2WD)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85232" y="2404872"/>
            <a:ext cx="1417320" cy="237744"/>
          </a:xfrm>
          <a:prstGeom prst="roundRect">
            <a:avLst>
              <a:gd name="adj" fmla="val 30769"/>
            </a:avLst>
          </a:prstGeom>
          <a:solidFill>
            <a:srgbClr val="ED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5285232" y="2404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Mode Only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39712" y="2404872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E7EEFD"/>
          </a:solidFill>
          <a:ln/>
        </p:spPr>
      </p:sp>
      <p:sp>
        <p:nvSpPr>
          <p:cNvPr id="43" name="Text 41"/>
          <p:cNvSpPr/>
          <p:nvPr/>
        </p:nvSpPr>
        <p:spPr>
          <a:xfrm>
            <a:off x="6839712" y="2404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Verified Listing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85232" y="2788920"/>
            <a:ext cx="5797296" cy="786384"/>
          </a:xfrm>
          <a:prstGeom prst="roundRect">
            <a:avLst>
              <a:gd name="adj" fmla="val 4651"/>
            </a:avLst>
          </a:prstGeom>
          <a:solidFill>
            <a:srgbClr val="F7F8F9"/>
          </a:solidFill>
          <a:ln w="9525">
            <a:solidFill>
              <a:srgbClr val="D3D7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2862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₹6,85,000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449824" y="3172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ex-showroom + delivery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7754112" y="2916936"/>
            <a:ext cx="18288" cy="530352"/>
          </a:xfrm>
          <a:prstGeom prst="rect">
            <a:avLst>
              <a:gd name="adj" fmla="val 100000"/>
            </a:avLst>
          </a:prstGeom>
          <a:solidFill>
            <a:srgbClr val="D3D7DA"/>
          </a:solidFill>
          <a:ln/>
        </p:spPr>
      </p:sp>
      <p:sp>
        <p:nvSpPr>
          <p:cNvPr id="48" name="Text 46"/>
          <p:cNvSpPr/>
          <p:nvPr/>
        </p:nvSpPr>
        <p:spPr>
          <a:xfrm>
            <a:off x="7936992" y="288036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all-in cost (incl. registration &amp; insurance)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7936992" y="31181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₹7,05,400 (estimate)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85232" y="3739896"/>
            <a:ext cx="243486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0096" y="3739896"/>
            <a:ext cx="336243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739896"/>
            <a:ext cx="2251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/ HP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7829824" y="3739896"/>
            <a:ext cx="317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HP, 3-cylinder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5285232" y="4050792"/>
            <a:ext cx="2434864" cy="310896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0096" y="4050792"/>
            <a:ext cx="3362432" cy="310896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4050792"/>
            <a:ext cx="2251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EMD  ⓘ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7829824" y="4050792"/>
            <a:ext cx="317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 (refundable)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5285232" y="4361688"/>
            <a:ext cx="243486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20096" y="4361688"/>
            <a:ext cx="336243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94960" y="4361688"/>
            <a:ext cx="2251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Validity  ⓘ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7829824" y="4361688"/>
            <a:ext cx="317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Jul – 26 Jul 2026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5285232" y="4672584"/>
            <a:ext cx="2434864" cy="310896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20096" y="4672584"/>
            <a:ext cx="3362432" cy="310896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4672584"/>
            <a:ext cx="2251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7829824" y="4672584"/>
            <a:ext cx="317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years / 2000 hrs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5285232" y="516636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/>
        </p:spPr>
      </p:sp>
      <p:sp>
        <p:nvSpPr>
          <p:cNvPr id="67" name="Text 65"/>
          <p:cNvSpPr/>
          <p:nvPr/>
        </p:nvSpPr>
        <p:spPr>
          <a:xfrm>
            <a:off x="5285232" y="5166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Bid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845552" y="51663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8A909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45552" y="51663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for Later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tooltip icons expand a plain-language glossary for EMD / bid validity / PAC in place — addresses jargon without a page redirect.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— Bid Confirmation &amp; My Bids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confirmation plus a live status dashboard instead of manual polling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512064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5875">
            <a:solidFill>
              <a:srgbClr val="9AA0A6"/>
            </a:solidFill>
            <a:prstDash val="solid"/>
          </a:ln>
          <a:effectLst>
            <a:outerShdw sx="100000" sy="100000" kx="0" ky="0" algn="bl" rotWithShape="0" blurRad="381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850392"/>
            <a:ext cx="310896" cy="3108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850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832104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gem.gov.in / my-bids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490472"/>
            <a:ext cx="10515600" cy="365760"/>
          </a:xfrm>
          <a:prstGeom prst="rect">
            <a:avLst/>
          </a:prstGeom>
          <a:solidFill>
            <a:srgbClr val="F1F3F4"/>
          </a:solidFill>
          <a:ln w="9525">
            <a:solidFill>
              <a:srgbClr val="C7CB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904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1490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/  My Bids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78992" y="2020824"/>
            <a:ext cx="10003536" cy="640080"/>
          </a:xfrm>
          <a:prstGeom prst="roundRect">
            <a:avLst>
              <a:gd name="adj" fmla="val 7143"/>
            </a:avLst>
          </a:prstGeom>
          <a:solidFill>
            <a:srgbClr val="E6F4EA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2203704"/>
            <a:ext cx="274320" cy="274320"/>
          </a:xfrm>
          <a:prstGeom prst="ellipse">
            <a:avLst/>
          </a:prstGeom>
          <a:solidFill>
            <a:srgbClr val="2E7D32"/>
          </a:solidFill>
          <a:ln w="9525">
            <a:solidFill>
              <a:srgbClr val="B7B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73352" y="211226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submitted successfully — Bid ID GEM/2026/B/48213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73352" y="23682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sent to your registered email and SMS. You’ll be notified at every status change.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8992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8992" y="3264408"/>
            <a:ext cx="1700601" cy="310896"/>
          </a:xfrm>
          <a:prstGeom prst="rect">
            <a:avLst/>
          </a:prstGeom>
          <a:solidFill>
            <a:srgbClr val="E3E6E9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264408"/>
            <a:ext cx="1517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ID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79593" y="3264408"/>
            <a:ext cx="2800990" cy="310896"/>
          </a:xfrm>
          <a:prstGeom prst="rect">
            <a:avLst/>
          </a:prstGeom>
          <a:solidFill>
            <a:srgbClr val="E3E6E9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71033" y="3264408"/>
            <a:ext cx="26181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580583" y="3264408"/>
            <a:ext cx="1500530" cy="310896"/>
          </a:xfrm>
          <a:prstGeom prst="rect">
            <a:avLst/>
          </a:prstGeom>
          <a:solidFill>
            <a:srgbClr val="E3E6E9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2023" y="3264408"/>
            <a:ext cx="1317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081114" y="3264408"/>
            <a:ext cx="2200778" cy="310896"/>
          </a:xfrm>
          <a:prstGeom prst="rect">
            <a:avLst/>
          </a:prstGeom>
          <a:solidFill>
            <a:srgbClr val="E3E6E9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2554" y="3264408"/>
            <a:ext cx="2017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281892" y="3264408"/>
            <a:ext cx="1800636" cy="310896"/>
          </a:xfrm>
          <a:prstGeom prst="rect">
            <a:avLst/>
          </a:prstGeom>
          <a:solidFill>
            <a:srgbClr val="E3E6E9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3332" y="3264408"/>
            <a:ext cx="1617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1078992" y="3575304"/>
            <a:ext cx="170060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3575304"/>
            <a:ext cx="15177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48213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2779593" y="3575304"/>
            <a:ext cx="280099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1033" y="3575304"/>
            <a:ext cx="2618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Mahindra 575 DI Tractor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580583" y="3575304"/>
            <a:ext cx="150053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2023" y="3575304"/>
            <a:ext cx="1317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Aug 2026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081114" y="3575304"/>
            <a:ext cx="220077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0842" y="3648456"/>
            <a:ext cx="1743578" cy="237744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/>
        </p:spPr>
      </p:sp>
      <p:sp>
        <p:nvSpPr>
          <p:cNvPr id="35" name="Text 33"/>
          <p:cNvSpPr/>
          <p:nvPr/>
        </p:nvSpPr>
        <p:spPr>
          <a:xfrm>
            <a:off x="7190842" y="3648456"/>
            <a:ext cx="1743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Evaluation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281892" y="3575304"/>
            <a:ext cx="18006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3332" y="3575304"/>
            <a:ext cx="1617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 →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78992" y="3959352"/>
            <a:ext cx="1700601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70432" y="3959352"/>
            <a:ext cx="15177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47950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779593" y="3959352"/>
            <a:ext cx="2800990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71033" y="3959352"/>
            <a:ext cx="2618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Chairs (x12)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580583" y="3959352"/>
            <a:ext cx="1500530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72023" y="3959352"/>
            <a:ext cx="1317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Aug 2026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7081114" y="3959352"/>
            <a:ext cx="2200778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0842" y="4032504"/>
            <a:ext cx="1743578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46" name="Text 44"/>
          <p:cNvSpPr/>
          <p:nvPr/>
        </p:nvSpPr>
        <p:spPr>
          <a:xfrm>
            <a:off x="7190842" y="4032504"/>
            <a:ext cx="1743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Awarded – L1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9281892" y="3959352"/>
            <a:ext cx="1800636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3332" y="3959352"/>
            <a:ext cx="1617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 →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78992" y="4343400"/>
            <a:ext cx="1700601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4343400"/>
            <a:ext cx="15177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46810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2779593" y="4343400"/>
            <a:ext cx="280099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71033" y="4343400"/>
            <a:ext cx="2618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Computers (x8)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580583" y="4343400"/>
            <a:ext cx="150053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72023" y="4343400"/>
            <a:ext cx="1317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 2026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7081114" y="4343400"/>
            <a:ext cx="220077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90842" y="4416552"/>
            <a:ext cx="1743578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57" name="Text 55"/>
          <p:cNvSpPr/>
          <p:nvPr/>
        </p:nvSpPr>
        <p:spPr>
          <a:xfrm>
            <a:off x="7190842" y="4416552"/>
            <a:ext cx="1743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Generated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9281892" y="4343400"/>
            <a:ext cx="18006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73332" y="4343400"/>
            <a:ext cx="1617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 →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78992" y="4727448"/>
            <a:ext cx="1700601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70432" y="4727448"/>
            <a:ext cx="15177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45102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2779593" y="4727448"/>
            <a:ext cx="2800990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71033" y="4727448"/>
            <a:ext cx="2618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Luminaires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5580583" y="4727448"/>
            <a:ext cx="1500530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72023" y="4727448"/>
            <a:ext cx="1317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Jul 2026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7081114" y="4727448"/>
            <a:ext cx="2200778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90842" y="4800600"/>
            <a:ext cx="1743578" cy="237744"/>
          </a:xfrm>
          <a:prstGeom prst="roundRect">
            <a:avLst>
              <a:gd name="adj" fmla="val 50000"/>
            </a:avLst>
          </a:prstGeom>
          <a:solidFill>
            <a:srgbClr val="EDEFF1"/>
          </a:solidFill>
          <a:ln/>
        </p:spPr>
      </p:sp>
      <p:sp>
        <p:nvSpPr>
          <p:cNvPr id="68" name="Text 66"/>
          <p:cNvSpPr/>
          <p:nvPr/>
        </p:nvSpPr>
        <p:spPr>
          <a:xfrm>
            <a:off x="7190842" y="4800600"/>
            <a:ext cx="1743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Closed – No Response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9281892" y="4727448"/>
            <a:ext cx="1800636" cy="384048"/>
          </a:xfrm>
          <a:prstGeom prst="rect">
            <a:avLst/>
          </a:prstGeom>
          <a:solidFill>
            <a:srgbClr val="F6F7F8"/>
          </a:solidFill>
          <a:ln w="6350">
            <a:solidFill>
              <a:srgbClr val="D3D7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73332" y="4727448"/>
            <a:ext cx="1617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 →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badges + email/SMS alerts replace manual dashboard polling — closes the loop back to Screen 1’s search entry point.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2026-08-11T08:37:05Z</dcterms:created>
  <dcterms:modified xsi:type="dcterms:W3CDTF">2026-08-11T08:37:05Z</dcterms:modified>
</cp:coreProperties>
</file>